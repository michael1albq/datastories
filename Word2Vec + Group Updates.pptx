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None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4" name="Shape 4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buSzPct val="100000"/>
              <a:buChar char="●"/>
              <a:defRPr sz="1100"/>
            </a:lvl1pPr>
            <a:lvl2pPr lvl="1">
              <a:spcBef>
                <a:spcPts val="0"/>
              </a:spcBef>
              <a:buSzPct val="100000"/>
              <a:buChar char="○"/>
              <a:defRPr sz="1100"/>
            </a:lvl2pPr>
            <a:lvl3pPr lvl="2">
              <a:spcBef>
                <a:spcPts val="0"/>
              </a:spcBef>
              <a:buSzPct val="100000"/>
              <a:buChar char="■"/>
              <a:defRPr sz="1100"/>
            </a:lvl3pPr>
            <a:lvl4pPr lvl="3">
              <a:spcBef>
                <a:spcPts val="0"/>
              </a:spcBef>
              <a:buSzPct val="100000"/>
              <a:buChar char="●"/>
              <a:defRPr sz="1100"/>
            </a:lvl4pPr>
            <a:lvl5pPr lvl="4">
              <a:spcBef>
                <a:spcPts val="0"/>
              </a:spcBef>
              <a:buSzPct val="100000"/>
              <a:buChar char="○"/>
              <a:defRPr sz="1100"/>
            </a:lvl5pPr>
            <a:lvl6pPr lvl="5">
              <a:spcBef>
                <a:spcPts val="0"/>
              </a:spcBef>
              <a:buSzPct val="100000"/>
              <a:buChar char="■"/>
              <a:defRPr sz="1100"/>
            </a:lvl6pPr>
            <a:lvl7pPr lvl="6">
              <a:spcBef>
                <a:spcPts val="0"/>
              </a:spcBef>
              <a:buSzPct val="100000"/>
              <a:buChar char="●"/>
              <a:defRPr sz="1100"/>
            </a:lvl7pPr>
            <a:lvl8pPr lvl="7">
              <a:spcBef>
                <a:spcPts val="0"/>
              </a:spcBef>
              <a:buSzPct val="100000"/>
              <a:buChar char="○"/>
              <a:defRPr sz="1100"/>
            </a:lvl8pPr>
            <a:lvl9pPr lvl="8">
              <a:spcBef>
                <a:spcPts val="0"/>
              </a:spcBef>
              <a:buSzPct val="1000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Shape 52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Shape 58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Shape 65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Shape 72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Shape 78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83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Shape 84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title">
  <p:cSld name="Title slid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rIns="91425" wrap="square" tIns="91425"/>
          <a:lstStyle>
            <a:lvl1pPr lvl="0" algn="ctr">
              <a:spcBef>
                <a:spcPts val="0"/>
              </a:spcBef>
              <a:buSzPct val="100000"/>
              <a:defRPr sz="5200"/>
            </a:lvl1pPr>
            <a:lvl2pPr lvl="1" algn="ctr">
              <a:spcBef>
                <a:spcPts val="0"/>
              </a:spcBef>
              <a:buSzPct val="100000"/>
              <a:defRPr sz="5200"/>
            </a:lvl2pPr>
            <a:lvl3pPr lvl="2" algn="ctr">
              <a:spcBef>
                <a:spcPts val="0"/>
              </a:spcBef>
              <a:buSzPct val="100000"/>
              <a:defRPr sz="5200"/>
            </a:lvl3pPr>
            <a:lvl4pPr lvl="3" algn="ctr">
              <a:spcBef>
                <a:spcPts val="0"/>
              </a:spcBef>
              <a:buSzPct val="100000"/>
              <a:defRPr sz="5200"/>
            </a:lvl4pPr>
            <a:lvl5pPr lvl="4" algn="ctr">
              <a:spcBef>
                <a:spcPts val="0"/>
              </a:spcBef>
              <a:buSzPct val="100000"/>
              <a:defRPr sz="5200"/>
            </a:lvl5pPr>
            <a:lvl6pPr lvl="5" algn="ctr">
              <a:spcBef>
                <a:spcPts val="0"/>
              </a:spcBef>
              <a:buSzPct val="100000"/>
              <a:defRPr sz="5200"/>
            </a:lvl6pPr>
            <a:lvl7pPr lvl="6" algn="ctr">
              <a:spcBef>
                <a:spcPts val="0"/>
              </a:spcBef>
              <a:buSzPct val="100000"/>
              <a:defRPr sz="5200"/>
            </a:lvl7pPr>
            <a:lvl8pPr lvl="7" algn="ctr">
              <a:spcBef>
                <a:spcPts val="0"/>
              </a:spcBef>
              <a:buSzPct val="100000"/>
              <a:defRPr sz="5200"/>
            </a:lvl8pPr>
            <a:lvl9pPr lvl="8" algn="ctr">
              <a:spcBef>
                <a:spcPts val="0"/>
              </a:spcBef>
              <a:buSzPct val="100000"/>
              <a:defRPr sz="5200"/>
            </a:lvl9pPr>
          </a:lstStyle>
          <a:p/>
        </p:txBody>
      </p:sp>
      <p:sp>
        <p:nvSpPr>
          <p:cNvPr id="11" name="Shape 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800"/>
            </a:lvl9pPr>
          </a:lstStyle>
          <a:p/>
        </p:txBody>
      </p:sp>
      <p:sp>
        <p:nvSpPr>
          <p:cNvPr id="12" name="Shape 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secHead">
  <p:cSld name="Section 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rIns="91425" wrap="square" tIns="91425"/>
          <a:lstStyle>
            <a:lvl1pPr lvl="0" algn="ctr">
              <a:spcBef>
                <a:spcPts val="0"/>
              </a:spcBef>
              <a:buSzPct val="100000"/>
              <a:defRPr sz="3600"/>
            </a:lvl1pPr>
            <a:lvl2pPr lvl="1" algn="ctr">
              <a:spcBef>
                <a:spcPts val="0"/>
              </a:spcBef>
              <a:buSzPct val="100000"/>
              <a:defRPr sz="3600"/>
            </a:lvl2pPr>
            <a:lvl3pPr lvl="2" algn="ctr">
              <a:spcBef>
                <a:spcPts val="0"/>
              </a:spcBef>
              <a:buSzPct val="100000"/>
              <a:defRPr sz="3600"/>
            </a:lvl3pPr>
            <a:lvl4pPr lvl="3" algn="ctr">
              <a:spcBef>
                <a:spcPts val="0"/>
              </a:spcBef>
              <a:buSzPct val="100000"/>
              <a:defRPr sz="3600"/>
            </a:lvl4pPr>
            <a:lvl5pPr lvl="4" algn="ctr">
              <a:spcBef>
                <a:spcPts val="0"/>
              </a:spcBef>
              <a:buSzPct val="100000"/>
              <a:defRPr sz="3600"/>
            </a:lvl5pPr>
            <a:lvl6pPr lvl="5" algn="ctr">
              <a:spcBef>
                <a:spcPts val="0"/>
              </a:spcBef>
              <a:buSzPct val="100000"/>
              <a:defRPr sz="3600"/>
            </a:lvl6pPr>
            <a:lvl7pPr lvl="6" algn="ctr">
              <a:spcBef>
                <a:spcPts val="0"/>
              </a:spcBef>
              <a:buSzPct val="100000"/>
              <a:defRPr sz="3600"/>
            </a:lvl7pPr>
            <a:lvl8pPr lvl="7" algn="ctr">
              <a:spcBef>
                <a:spcPts val="0"/>
              </a:spcBef>
              <a:buSzPct val="100000"/>
              <a:defRPr sz="3600"/>
            </a:lvl8pPr>
            <a:lvl9pPr lvl="8" algn="ctr">
              <a:spcBef>
                <a:spcPts val="0"/>
              </a:spcBef>
              <a:buSzPct val="100000"/>
              <a:defRPr sz="3600"/>
            </a:lvl9pPr>
          </a:lstStyle>
          <a:p/>
        </p:txBody>
      </p:sp>
      <p:sp>
        <p:nvSpPr>
          <p:cNvPr id="15" name="Shape 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tx">
  <p:cSld name="Title and 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/>
        </p:txBody>
      </p:sp>
      <p:sp>
        <p:nvSpPr>
          <p:cNvPr id="18" name="Shape 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/>
        </p:txBody>
      </p:sp>
      <p:sp>
        <p:nvSpPr>
          <p:cNvPr id="19" name="Shape 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twoColTx">
  <p:cSld name="Title and two 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/>
        </p:txBody>
      </p:sp>
      <p:sp>
        <p:nvSpPr>
          <p:cNvPr id="22" name="Shape 2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/>
        </p:txBody>
      </p:sp>
      <p:sp>
        <p:nvSpPr>
          <p:cNvPr id="23" name="Shape 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/>
        </p:txBody>
      </p:sp>
      <p:sp>
        <p:nvSpPr>
          <p:cNvPr id="24" name="Shape 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titleOnly">
  <p:cSld name="Title 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/>
        </p:txBody>
      </p:sp>
      <p:sp>
        <p:nvSpPr>
          <p:cNvPr id="27" name="Shape 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rIns="91425" wrap="square" tIns="91425"/>
          <a:lstStyle>
            <a:lvl1pPr lvl="0">
              <a:spcBef>
                <a:spcPts val="0"/>
              </a:spcBef>
              <a:buSzPct val="100000"/>
              <a:defRPr sz="2400"/>
            </a:lvl1pPr>
            <a:lvl2pPr lvl="1">
              <a:spcBef>
                <a:spcPts val="0"/>
              </a:spcBef>
              <a:buSzPct val="100000"/>
              <a:defRPr sz="2400"/>
            </a:lvl2pPr>
            <a:lvl3pPr lvl="2">
              <a:spcBef>
                <a:spcPts val="0"/>
              </a:spcBef>
              <a:buSzPct val="100000"/>
              <a:defRPr sz="2400"/>
            </a:lvl3pPr>
            <a:lvl4pPr lvl="3">
              <a:spcBef>
                <a:spcPts val="0"/>
              </a:spcBef>
              <a:buSzPct val="100000"/>
              <a:defRPr sz="2400"/>
            </a:lvl4pPr>
            <a:lvl5pPr lvl="4">
              <a:spcBef>
                <a:spcPts val="0"/>
              </a:spcBef>
              <a:buSzPct val="100000"/>
              <a:defRPr sz="2400"/>
            </a:lvl5pPr>
            <a:lvl6pPr lvl="5">
              <a:spcBef>
                <a:spcPts val="0"/>
              </a:spcBef>
              <a:buSzPct val="100000"/>
              <a:defRPr sz="2400"/>
            </a:lvl6pPr>
            <a:lvl7pPr lvl="6">
              <a:spcBef>
                <a:spcPts val="0"/>
              </a:spcBef>
              <a:buSzPct val="100000"/>
              <a:defRPr sz="2400"/>
            </a:lvl7pPr>
            <a:lvl8pPr lvl="7">
              <a:spcBef>
                <a:spcPts val="0"/>
              </a:spcBef>
              <a:buSzPct val="100000"/>
              <a:defRPr sz="2400"/>
            </a:lvl8pPr>
            <a:lvl9pPr lvl="8">
              <a:spcBef>
                <a:spcPts val="0"/>
              </a:spcBef>
              <a:buSzPct val="100000"/>
              <a:defRPr sz="2400"/>
            </a:lvl9pPr>
          </a:lstStyle>
          <a:p/>
        </p:txBody>
      </p:sp>
      <p:sp>
        <p:nvSpPr>
          <p:cNvPr id="30" name="Shape 3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/>
        </p:txBody>
      </p:sp>
      <p:sp>
        <p:nvSpPr>
          <p:cNvPr id="31" name="Shape 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rIns="91425" wrap="square" tIns="91425"/>
          <a:lstStyle>
            <a:lvl1pPr lvl="0">
              <a:spcBef>
                <a:spcPts val="0"/>
              </a:spcBef>
              <a:buSzPct val="100000"/>
              <a:defRPr sz="4800"/>
            </a:lvl1pPr>
            <a:lvl2pPr lvl="1">
              <a:spcBef>
                <a:spcPts val="0"/>
              </a:spcBef>
              <a:buSzPct val="100000"/>
              <a:defRPr sz="4800"/>
            </a:lvl2pPr>
            <a:lvl3pPr lvl="2">
              <a:spcBef>
                <a:spcPts val="0"/>
              </a:spcBef>
              <a:buSzPct val="100000"/>
              <a:defRPr sz="4800"/>
            </a:lvl3pPr>
            <a:lvl4pPr lvl="3">
              <a:spcBef>
                <a:spcPts val="0"/>
              </a:spcBef>
              <a:buSzPct val="100000"/>
              <a:defRPr sz="4800"/>
            </a:lvl4pPr>
            <a:lvl5pPr lvl="4">
              <a:spcBef>
                <a:spcPts val="0"/>
              </a:spcBef>
              <a:buSzPct val="100000"/>
              <a:defRPr sz="4800"/>
            </a:lvl5pPr>
            <a:lvl6pPr lvl="5">
              <a:spcBef>
                <a:spcPts val="0"/>
              </a:spcBef>
              <a:buSzPct val="100000"/>
              <a:defRPr sz="4800"/>
            </a:lvl6pPr>
            <a:lvl7pPr lvl="6">
              <a:spcBef>
                <a:spcPts val="0"/>
              </a:spcBef>
              <a:buSzPct val="100000"/>
              <a:defRPr sz="4800"/>
            </a:lvl7pPr>
            <a:lvl8pPr lvl="7">
              <a:spcBef>
                <a:spcPts val="0"/>
              </a:spcBef>
              <a:buSzPct val="100000"/>
              <a:defRPr sz="4800"/>
            </a:lvl8pPr>
            <a:lvl9pPr lvl="8">
              <a:spcBef>
                <a:spcPts val="0"/>
              </a:spcBef>
              <a:buSzPct val="100000"/>
              <a:defRPr sz="4800"/>
            </a:lvl9pPr>
          </a:lstStyle>
          <a:p/>
        </p:txBody>
      </p:sp>
      <p:sp>
        <p:nvSpPr>
          <p:cNvPr id="34" name="Shape 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t/>
            </a:r>
            <a:endParaRPr/>
          </a:p>
        </p:txBody>
      </p:sp>
      <p:sp>
        <p:nvSpPr>
          <p:cNvPr id="37" name="Shape 3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rIns="91425" wrap="square" tIns="91425"/>
          <a:lstStyle>
            <a:lvl1pPr lvl="0" algn="ctr">
              <a:spcBef>
                <a:spcPts val="0"/>
              </a:spcBef>
              <a:buSzPct val="100000"/>
              <a:defRPr sz="4200"/>
            </a:lvl1pPr>
            <a:lvl2pPr lvl="1" algn="ctr">
              <a:spcBef>
                <a:spcPts val="0"/>
              </a:spcBef>
              <a:buSzPct val="100000"/>
              <a:defRPr sz="4200"/>
            </a:lvl2pPr>
            <a:lvl3pPr lvl="2" algn="ctr">
              <a:spcBef>
                <a:spcPts val="0"/>
              </a:spcBef>
              <a:buSzPct val="100000"/>
              <a:defRPr sz="4200"/>
            </a:lvl3pPr>
            <a:lvl4pPr lvl="3" algn="ctr">
              <a:spcBef>
                <a:spcPts val="0"/>
              </a:spcBef>
              <a:buSzPct val="100000"/>
              <a:defRPr sz="4200"/>
            </a:lvl4pPr>
            <a:lvl5pPr lvl="4" algn="ctr">
              <a:spcBef>
                <a:spcPts val="0"/>
              </a:spcBef>
              <a:buSzPct val="100000"/>
              <a:defRPr sz="4200"/>
            </a:lvl5pPr>
            <a:lvl6pPr lvl="5" algn="ctr">
              <a:spcBef>
                <a:spcPts val="0"/>
              </a:spcBef>
              <a:buSzPct val="100000"/>
              <a:defRPr sz="4200"/>
            </a:lvl6pPr>
            <a:lvl7pPr lvl="6" algn="ctr">
              <a:spcBef>
                <a:spcPts val="0"/>
              </a:spcBef>
              <a:buSzPct val="100000"/>
              <a:defRPr sz="4200"/>
            </a:lvl7pPr>
            <a:lvl8pPr lvl="7" algn="ctr">
              <a:spcBef>
                <a:spcPts val="0"/>
              </a:spcBef>
              <a:buSzPct val="100000"/>
              <a:defRPr sz="4200"/>
            </a:lvl8pPr>
            <a:lvl9pPr lvl="8" algn="ctr">
              <a:spcBef>
                <a:spcPts val="0"/>
              </a:spcBef>
              <a:buSzPct val="100000"/>
              <a:defRPr sz="4200"/>
            </a:lvl9pPr>
          </a:lstStyle>
          <a:p/>
        </p:txBody>
      </p:sp>
      <p:sp>
        <p:nvSpPr>
          <p:cNvPr id="38" name="Shape 3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2100"/>
            </a:lvl9pPr>
          </a:lstStyle>
          <a:p/>
        </p:txBody>
      </p:sp>
      <p:sp>
        <p:nvSpPr>
          <p:cNvPr id="39" name="Shape 3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rIns="91425" wrap="square" tIns="91425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/>
        </p:txBody>
      </p:sp>
      <p:sp>
        <p:nvSpPr>
          <p:cNvPr id="40" name="Shape 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4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rIns="91425" wrap="square" tIns="91425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/>
        </p:txBody>
      </p:sp>
      <p:sp>
        <p:nvSpPr>
          <p:cNvPr id="43" name="Shape 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rIns="91425" wrap="square" tIns="91425"/>
          <a:lstStyle>
            <a:lvl1pPr lvl="0" algn="ctr">
              <a:spcBef>
                <a:spcPts val="0"/>
              </a:spcBef>
              <a:buSzPct val="100000"/>
              <a:defRPr sz="12000"/>
            </a:lvl1pPr>
            <a:lvl2pPr lvl="1" algn="ctr">
              <a:spcBef>
                <a:spcPts val="0"/>
              </a:spcBef>
              <a:buSzPct val="100000"/>
              <a:defRPr sz="12000"/>
            </a:lvl2pPr>
            <a:lvl3pPr lvl="2" algn="ctr">
              <a:spcBef>
                <a:spcPts val="0"/>
              </a:spcBef>
              <a:buSzPct val="100000"/>
              <a:defRPr sz="12000"/>
            </a:lvl3pPr>
            <a:lvl4pPr lvl="3" algn="ctr">
              <a:spcBef>
                <a:spcPts val="0"/>
              </a:spcBef>
              <a:buSzPct val="100000"/>
              <a:defRPr sz="12000"/>
            </a:lvl4pPr>
            <a:lvl5pPr lvl="4" algn="ctr">
              <a:spcBef>
                <a:spcPts val="0"/>
              </a:spcBef>
              <a:buSzPct val="100000"/>
              <a:defRPr sz="12000"/>
            </a:lvl5pPr>
            <a:lvl6pPr lvl="5" algn="ctr">
              <a:spcBef>
                <a:spcPts val="0"/>
              </a:spcBef>
              <a:buSzPct val="100000"/>
              <a:defRPr sz="12000"/>
            </a:lvl6pPr>
            <a:lvl7pPr lvl="6" algn="ctr">
              <a:spcBef>
                <a:spcPts val="0"/>
              </a:spcBef>
              <a:buSzPct val="100000"/>
              <a:defRPr sz="12000"/>
            </a:lvl7pPr>
            <a:lvl8pPr lvl="7" algn="ctr">
              <a:spcBef>
                <a:spcPts val="0"/>
              </a:spcBef>
              <a:buSzPct val="100000"/>
              <a:defRPr sz="12000"/>
            </a:lvl8pPr>
            <a:lvl9pPr lvl="8" algn="ctr">
              <a:spcBef>
                <a:spcPts val="0"/>
              </a:spcBef>
              <a:buSzPct val="100000"/>
              <a:defRPr sz="12000"/>
            </a:lvl9pPr>
          </a:lstStyle>
          <a:p/>
        </p:txBody>
      </p:sp>
      <p:sp>
        <p:nvSpPr>
          <p:cNvPr id="46" name="Shape 4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rIns="91425" wrap="square" tIns="91425"/>
          <a:lstStyle>
            <a:lvl1pPr lvl="0" algn="ctr">
              <a:spcBef>
                <a:spcPts val="0"/>
              </a:spcBef>
              <a:defRPr/>
            </a:lvl1pPr>
            <a:lvl2pPr lvl="1" algn="ctr">
              <a:spcBef>
                <a:spcPts val="0"/>
              </a:spcBef>
              <a:defRPr/>
            </a:lvl2pPr>
            <a:lvl3pPr lvl="2" algn="ctr">
              <a:spcBef>
                <a:spcPts val="0"/>
              </a:spcBef>
              <a:defRPr/>
            </a:lvl3pPr>
            <a:lvl4pPr lvl="3" algn="ctr">
              <a:spcBef>
                <a:spcPts val="0"/>
              </a:spcBef>
              <a:defRPr/>
            </a:lvl4pPr>
            <a:lvl5pPr lvl="4" algn="ctr">
              <a:spcBef>
                <a:spcPts val="0"/>
              </a:spcBef>
              <a:defRPr/>
            </a:lvl5pPr>
            <a:lvl6pPr lvl="5" algn="ctr">
              <a:spcBef>
                <a:spcPts val="0"/>
              </a:spcBef>
              <a:defRPr/>
            </a:lvl6pPr>
            <a:lvl7pPr lvl="6" algn="ctr">
              <a:spcBef>
                <a:spcPts val="0"/>
              </a:spcBef>
              <a:defRPr/>
            </a:lvl7pPr>
            <a:lvl8pPr lvl="7" algn="ctr">
              <a:spcBef>
                <a:spcPts val="0"/>
              </a:spcBef>
              <a:defRPr/>
            </a:lvl8pPr>
            <a:lvl9pPr lvl="8" algn="ctr">
              <a:spcBef>
                <a:spcPts val="0"/>
              </a:spcBef>
              <a:defRPr/>
            </a:lvl9pPr>
          </a:lstStyle>
          <a:p/>
        </p:txBody>
      </p:sp>
      <p:sp>
        <p:nvSpPr>
          <p:cNvPr id="47" name="Shape 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wrap="square" tIns="91425"/>
          <a:lstStyle>
            <a:lvl1pPr lvl="0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Shape 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wrap="square" tIns="91425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Char char="●"/>
              <a:defRPr sz="1800">
                <a:solidFill>
                  <a:schemeClr val="dk2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○"/>
              <a:defRPr>
                <a:solidFill>
                  <a:schemeClr val="dk2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■"/>
              <a:defRPr>
                <a:solidFill>
                  <a:schemeClr val="dk2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●"/>
              <a:defRPr>
                <a:solidFill>
                  <a:schemeClr val="dk2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○"/>
              <a:defRPr>
                <a:solidFill>
                  <a:schemeClr val="dk2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■"/>
              <a:defRPr>
                <a:solidFill>
                  <a:schemeClr val="dk2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●"/>
              <a:defRPr>
                <a:solidFill>
                  <a:schemeClr val="dk2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○"/>
              <a:defRPr>
                <a:solidFill>
                  <a:schemeClr val="dk2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Shape 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rIns="91425" wrap="square" tIns="91425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" sz="1000">
                <a:solidFill>
                  <a:schemeClr val="dk2"/>
                </a:solidFill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None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ocs.google.com/document/d/10HvHlIFRJy6NmU9uxNbhjY92KNjwS3qWGhpdtbY_GE4/edit?pli=1" TargetMode="External"/><Relationship Id="rId4" Type="http://schemas.openxmlformats.org/officeDocument/2006/relationships/hyperlink" Target="https://github.com/michael1albq/DataStories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54"/>
          <p:cNvSpPr txBox="1"/>
          <p:nvPr>
            <p:ph type="ctrTitle"/>
          </p:nvPr>
        </p:nvSpPr>
        <p:spPr>
          <a:xfrm>
            <a:off x="311700" y="150800"/>
            <a:ext cx="8520600" cy="5319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rPr b="1" lang="en" sz="3000">
                <a:solidFill>
                  <a:srgbClr val="41414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Word2Vec</a:t>
            </a:r>
          </a:p>
        </p:txBody>
      </p:sp>
      <p:sp>
        <p:nvSpPr>
          <p:cNvPr id="55" name="Shape 55"/>
          <p:cNvSpPr txBox="1"/>
          <p:nvPr>
            <p:ph idx="1" type="subTitle"/>
          </p:nvPr>
        </p:nvSpPr>
        <p:spPr>
          <a:xfrm>
            <a:off x="311700" y="682700"/>
            <a:ext cx="8520600" cy="42285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500"/>
              <a:t>Since we’re using the keywords from songs to retrieve images with tags associated with them, we need to find a way to compare them</a:t>
            </a: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500"/>
              <a:t>Most modern ML algorithms don’t deal with strings directly </a:t>
            </a: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500"/>
              <a:t>This is where word2vec comes in: it takes words and converts them to a point in a n-dimensional vector space</a:t>
            </a:r>
          </a:p>
          <a:p>
            <a:pPr indent="-387350" lvl="0" marL="457200" algn="l">
              <a:spcBef>
                <a:spcPts val="0"/>
              </a:spcBef>
              <a:buSzPct val="100000"/>
              <a:buChar char="●"/>
            </a:pPr>
            <a:r>
              <a:rPr lang="en" sz="2500"/>
              <a:t>The model we train can be used to determine how similar the keyword is to the tags of the images so that we can pick the “best” (relevant) image</a:t>
            </a:r>
            <a:r>
              <a:rPr lang="en" sz="2500"/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 txBox="1"/>
          <p:nvPr>
            <p:ph type="ctrTitle"/>
          </p:nvPr>
        </p:nvSpPr>
        <p:spPr>
          <a:xfrm>
            <a:off x="311700" y="150800"/>
            <a:ext cx="8520600" cy="5319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t/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" name="Shape 61"/>
          <p:cNvSpPr txBox="1"/>
          <p:nvPr>
            <p:ph idx="1" type="subTitle"/>
          </p:nvPr>
        </p:nvSpPr>
        <p:spPr>
          <a:xfrm>
            <a:off x="311700" y="4770350"/>
            <a:ext cx="8520600" cy="2895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buSzPct val="100000"/>
              <a:buChar char="●"/>
            </a:pPr>
            <a:r>
              <a:rPr lang="en" sz="1200"/>
              <a:t>We can see which words are close to each other </a:t>
            </a:r>
          </a:p>
        </p:txBody>
      </p:sp>
      <p:pic>
        <p:nvPicPr>
          <p:cNvPr id="62" name="Shape 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00" y="0"/>
            <a:ext cx="9115000" cy="477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 txBox="1"/>
          <p:nvPr>
            <p:ph type="ctrTitle"/>
          </p:nvPr>
        </p:nvSpPr>
        <p:spPr>
          <a:xfrm>
            <a:off x="311700" y="150800"/>
            <a:ext cx="8520600" cy="5319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t/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Shape 68"/>
          <p:cNvSpPr txBox="1"/>
          <p:nvPr>
            <p:ph idx="1" type="subTitle"/>
          </p:nvPr>
        </p:nvSpPr>
        <p:spPr>
          <a:xfrm>
            <a:off x="311700" y="3207125"/>
            <a:ext cx="8520600" cy="17043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buSzPct val="100000"/>
              <a:buChar char="●"/>
            </a:pPr>
            <a:r>
              <a:rPr lang="en" sz="2500"/>
              <a:t>This is essentially what it’s doing: words with similar relationships (king and queen or man and woman) have similar euclidean distances between them</a:t>
            </a:r>
          </a:p>
        </p:txBody>
      </p:sp>
      <p:pic>
        <p:nvPicPr>
          <p:cNvPr id="69" name="Shape 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50800"/>
            <a:ext cx="8520600" cy="29904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 txBox="1"/>
          <p:nvPr>
            <p:ph type="ctrTitle"/>
          </p:nvPr>
        </p:nvSpPr>
        <p:spPr>
          <a:xfrm>
            <a:off x="311700" y="150800"/>
            <a:ext cx="8520600" cy="5319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rPr b="1" lang="en" sz="3000">
                <a:latin typeface="Times New Roman"/>
                <a:ea typeface="Times New Roman"/>
                <a:cs typeface="Times New Roman"/>
                <a:sym typeface="Times New Roman"/>
              </a:rPr>
              <a:t>Development Updates</a:t>
            </a:r>
          </a:p>
        </p:txBody>
      </p:sp>
      <p:sp>
        <p:nvSpPr>
          <p:cNvPr id="75" name="Shape 75"/>
          <p:cNvSpPr txBox="1"/>
          <p:nvPr>
            <p:ph idx="1" type="subTitle"/>
          </p:nvPr>
        </p:nvSpPr>
        <p:spPr>
          <a:xfrm>
            <a:off x="261275" y="682700"/>
            <a:ext cx="8520600" cy="33111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3000"/>
              <a:t>We were able to get a running algorithm to find the most relevant image for each paragraph</a:t>
            </a:r>
          </a:p>
          <a:p>
            <a:pPr indent="-4191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3000"/>
              <a:t>Ran it through a few times to find errors</a:t>
            </a:r>
          </a:p>
          <a:p>
            <a:pPr indent="-419100" lvl="0" marL="457200" rtl="0" algn="l">
              <a:spcBef>
                <a:spcPts val="0"/>
              </a:spcBef>
              <a:buSzPct val="100000"/>
              <a:buChar char="●"/>
            </a:pPr>
            <a:r>
              <a:rPr lang="en" sz="3000"/>
              <a:t>We’ve done the manual search using pixabay to see how well it’s doing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80"/>
          <p:cNvSpPr txBox="1"/>
          <p:nvPr>
            <p:ph type="ctrTitle"/>
          </p:nvPr>
        </p:nvSpPr>
        <p:spPr>
          <a:xfrm>
            <a:off x="311700" y="150800"/>
            <a:ext cx="8520600" cy="11907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rPr b="1" lang="en" sz="3000">
                <a:latin typeface="Times New Roman"/>
                <a:ea typeface="Times New Roman"/>
                <a:cs typeface="Times New Roman"/>
                <a:sym typeface="Times New Roman"/>
              </a:rPr>
              <a:t>Manual Search vs Algorithmic Version</a:t>
            </a:r>
          </a:p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t/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" name="Shape 81"/>
          <p:cNvSpPr txBox="1"/>
          <p:nvPr/>
        </p:nvSpPr>
        <p:spPr>
          <a:xfrm>
            <a:off x="907700" y="1643875"/>
            <a:ext cx="7190700" cy="14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wrap="square" tIns="91425">
            <a:noAutofit/>
          </a:bodyPr>
          <a:lstStyle/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1050">
                <a:solidFill>
                  <a:schemeClr val="dk1"/>
                </a:solidFill>
                <a:highlight>
                  <a:srgbClr val="FFFFFF"/>
                </a:highlight>
              </a:rPr>
              <a:t>Manual: </a:t>
            </a:r>
            <a:r>
              <a:rPr lang="en" sz="1050" u="sng">
                <a:solidFill>
                  <a:schemeClr val="hlink"/>
                </a:solidFill>
                <a:highlight>
                  <a:srgbClr val="FFFFFF"/>
                </a:highlight>
                <a:hlinkClick r:id="rId3"/>
              </a:rPr>
              <a:t>https://docs.google.com/document/d/10HvHlIFRJy6NmU9uxNbhjY92KNjwS3qWGhpdtbY_GE4/edit?pli=1</a:t>
            </a:r>
          </a:p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  <a:p>
            <a:pPr lvl="0" rtl="0">
              <a:spcBef>
                <a:spcPts val="0"/>
              </a:spcBef>
              <a:buNone/>
            </a:pPr>
            <a:r>
              <a:t/>
            </a:r>
            <a:endParaRPr/>
          </a:p>
          <a:p>
            <a:pPr lvl="0" rtl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1050">
                <a:solidFill>
                  <a:schemeClr val="dk1"/>
                </a:solidFill>
                <a:highlight>
                  <a:srgbClr val="FFFFFF"/>
                </a:highlight>
              </a:rPr>
              <a:t>Algorithmic: </a:t>
            </a:r>
            <a:r>
              <a:rPr lang="en" sz="1050" u="sng">
                <a:solidFill>
                  <a:schemeClr val="hlink"/>
                </a:solidFill>
                <a:highlight>
                  <a:srgbClr val="FFFFFF"/>
                </a:highlight>
                <a:hlinkClick r:id="rId4"/>
              </a:rPr>
              <a:t>https://github.com/michael1albq/DataStories</a:t>
            </a:r>
          </a:p>
          <a:p>
            <a:pPr lvl="0" rtl="0">
              <a:spcBef>
                <a:spcPts val="0"/>
              </a:spcBef>
              <a:buNone/>
            </a:pPr>
            <a:br>
              <a:rPr lang="en"/>
            </a:b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86"/>
          <p:cNvSpPr txBox="1"/>
          <p:nvPr>
            <p:ph type="ctrTitle"/>
          </p:nvPr>
        </p:nvSpPr>
        <p:spPr>
          <a:xfrm>
            <a:off x="261275" y="230200"/>
            <a:ext cx="8520600" cy="792600"/>
          </a:xfrm>
          <a:prstGeom prst="rect">
            <a:avLst/>
          </a:prstGeom>
        </p:spPr>
        <p:txBody>
          <a:bodyPr anchorCtr="0" anchor="b" bIns="91425" lIns="91425" rIns="91425" wrap="square" tIns="91425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" sz="3000"/>
              <a:t>Challenges &amp; Next Steps &amp; Outline</a:t>
            </a:r>
          </a:p>
        </p:txBody>
      </p:sp>
      <p:sp>
        <p:nvSpPr>
          <p:cNvPr id="87" name="Shape 87"/>
          <p:cNvSpPr txBox="1"/>
          <p:nvPr>
            <p:ph idx="1" type="subTitle"/>
          </p:nvPr>
        </p:nvSpPr>
        <p:spPr>
          <a:xfrm>
            <a:off x="311700" y="1142500"/>
            <a:ext cx="8520600" cy="3681300"/>
          </a:xfrm>
          <a:prstGeom prst="rect">
            <a:avLst/>
          </a:prstGeom>
        </p:spPr>
        <p:txBody>
          <a:bodyPr anchorCtr="0" anchor="t" bIns="91425" lIns="91425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400"/>
              <a:t>Dealing with any more potential errors through testing and debugging</a:t>
            </a: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400"/>
              <a:t>Creating the second algorithm (where we have a keyword mapped to an image and the song maps to all the images)</a:t>
            </a:r>
          </a:p>
          <a:p>
            <a:pPr indent="-381000" lvl="0" marL="457200" rtl="0" algn="l">
              <a:spcBef>
                <a:spcPts val="0"/>
              </a:spcBef>
              <a:buSzPct val="100000"/>
              <a:buChar char="●"/>
            </a:pPr>
            <a:r>
              <a:rPr lang="en" sz="2400"/>
              <a:t>Need to change the dataset we use since it can only obtain a limited number of pictures for many keywords and none for many other keywords → so we’re losing a lot of information</a:t>
            </a:r>
          </a:p>
          <a:p>
            <a:pPr lvl="0" algn="l">
              <a:spcBef>
                <a:spcPts val="0"/>
              </a:spcBef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